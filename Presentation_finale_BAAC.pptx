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 snapToObjects="1">
      <p:cViewPr varScale="1">
        <p:scale>
          <a:sx n="99" d="100"/>
          <a:sy n="99" d="100"/>
        </p:scale>
        <p:origin x="92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BILA KSOURI" userId="823bbede9e18b08b" providerId="LiveId" clId="{83A69301-8A31-4933-9767-D8C3DC319774}"/>
    <pc:docChg chg="undo custSel modSld">
      <pc:chgData name="NABILA KSOURI" userId="823bbede9e18b08b" providerId="LiveId" clId="{83A69301-8A31-4933-9767-D8C3DC319774}" dt="2026-10-19T07:06:54.565" v="17" actId="20577"/>
      <pc:docMkLst>
        <pc:docMk/>
      </pc:docMkLst>
      <pc:sldChg chg="modNotesTx">
        <pc:chgData name="NABILA KSOURI" userId="823bbede9e18b08b" providerId="LiveId" clId="{83A69301-8A31-4933-9767-D8C3DC319774}" dt="2026-10-19T07:05:01.808" v="0" actId="20577"/>
        <pc:sldMkLst>
          <pc:docMk/>
          <pc:sldMk cId="0" sldId="256"/>
        </pc:sldMkLst>
      </pc:sldChg>
      <pc:sldChg chg="modNotesTx">
        <pc:chgData name="NABILA KSOURI" userId="823bbede9e18b08b" providerId="LiveId" clId="{83A69301-8A31-4933-9767-D8C3DC319774}" dt="2026-10-19T07:05:07.054" v="1" actId="20577"/>
        <pc:sldMkLst>
          <pc:docMk/>
          <pc:sldMk cId="0" sldId="257"/>
        </pc:sldMkLst>
      </pc:sldChg>
      <pc:sldChg chg="modNotesTx">
        <pc:chgData name="NABILA KSOURI" userId="823bbede9e18b08b" providerId="LiveId" clId="{83A69301-8A31-4933-9767-D8C3DC319774}" dt="2026-10-19T07:06:44.817" v="16" actId="20577"/>
        <pc:sldMkLst>
          <pc:docMk/>
          <pc:sldMk cId="0" sldId="258"/>
        </pc:sldMkLst>
      </pc:sldChg>
      <pc:sldChg chg="modNotesTx">
        <pc:chgData name="NABILA KSOURI" userId="823bbede9e18b08b" providerId="LiveId" clId="{83A69301-8A31-4933-9767-D8C3DC319774}" dt="2026-10-19T07:06:54.565" v="17" actId="20577"/>
        <pc:sldMkLst>
          <pc:docMk/>
          <pc:sldMk cId="0" sldId="259"/>
        </pc:sldMkLst>
      </pc:sldChg>
      <pc:sldChg chg="modNotesTx">
        <pc:chgData name="NABILA KSOURI" userId="823bbede9e18b08b" providerId="LiveId" clId="{83A69301-8A31-4933-9767-D8C3DC319774}" dt="2026-10-19T07:05:31.566" v="6" actId="20577"/>
        <pc:sldMkLst>
          <pc:docMk/>
          <pc:sldMk cId="0" sldId="260"/>
        </pc:sldMkLst>
      </pc:sldChg>
      <pc:sldChg chg="modNotesTx">
        <pc:chgData name="NABILA KSOURI" userId="823bbede9e18b08b" providerId="LiveId" clId="{83A69301-8A31-4933-9767-D8C3DC319774}" dt="2026-10-19T07:05:38.982" v="7" actId="20577"/>
        <pc:sldMkLst>
          <pc:docMk/>
          <pc:sldMk cId="0" sldId="261"/>
        </pc:sldMkLst>
      </pc:sldChg>
      <pc:sldChg chg="modNotesTx">
        <pc:chgData name="NABILA KSOURI" userId="823bbede9e18b08b" providerId="LiveId" clId="{83A69301-8A31-4933-9767-D8C3DC319774}" dt="2026-10-19T07:05:44.716" v="8" actId="20577"/>
        <pc:sldMkLst>
          <pc:docMk/>
          <pc:sldMk cId="0" sldId="262"/>
        </pc:sldMkLst>
      </pc:sldChg>
      <pc:sldChg chg="modNotesTx">
        <pc:chgData name="NABILA KSOURI" userId="823bbede9e18b08b" providerId="LiveId" clId="{83A69301-8A31-4933-9767-D8C3DC319774}" dt="2026-10-19T07:05:51.762" v="9" actId="20577"/>
        <pc:sldMkLst>
          <pc:docMk/>
          <pc:sldMk cId="0" sldId="263"/>
        </pc:sldMkLst>
      </pc:sldChg>
      <pc:sldChg chg="modNotesTx">
        <pc:chgData name="NABILA KSOURI" userId="823bbede9e18b08b" providerId="LiveId" clId="{83A69301-8A31-4933-9767-D8C3DC319774}" dt="2026-10-19T07:05:55.875" v="10" actId="20577"/>
        <pc:sldMkLst>
          <pc:docMk/>
          <pc:sldMk cId="0" sldId="264"/>
        </pc:sldMkLst>
      </pc:sldChg>
      <pc:sldChg chg="modNotesTx">
        <pc:chgData name="NABILA KSOURI" userId="823bbede9e18b08b" providerId="LiveId" clId="{83A69301-8A31-4933-9767-D8C3DC319774}" dt="2026-10-19T07:06:17.847" v="12" actId="20577"/>
        <pc:sldMkLst>
          <pc:docMk/>
          <pc:sldMk cId="0" sldId="265"/>
        </pc:sldMkLst>
      </pc:sldChg>
      <pc:sldChg chg="modNotesTx">
        <pc:chgData name="NABILA KSOURI" userId="823bbede9e18b08b" providerId="LiveId" clId="{83A69301-8A31-4933-9767-D8C3DC319774}" dt="2026-10-19T07:06:23.013" v="13" actId="20577"/>
        <pc:sldMkLst>
          <pc:docMk/>
          <pc:sldMk cId="0" sldId="266"/>
        </pc:sldMkLst>
      </pc:sldChg>
      <pc:sldChg chg="modNotesTx">
        <pc:chgData name="NABILA KSOURI" userId="823bbede9e18b08b" providerId="LiveId" clId="{83A69301-8A31-4933-9767-D8C3DC319774}" dt="2026-10-19T07:06:29.059" v="14" actId="20577"/>
        <pc:sldMkLst>
          <pc:docMk/>
          <pc:sldMk cId="0" sldId="267"/>
        </pc:sldMkLst>
      </pc:sldChg>
      <pc:sldChg chg="modNotesTx">
        <pc:chgData name="NABILA KSOURI" userId="823bbede9e18b08b" providerId="LiveId" clId="{83A69301-8A31-4933-9767-D8C3DC319774}" dt="2026-10-19T07:06:33.447" v="15" actId="20577"/>
        <pc:sldMkLst>
          <pc:docMk/>
          <pc:sldMk cId="0" sldId="268"/>
        </pc:sldMkLst>
      </pc:sldChg>
      <pc:sldChg chg="modNotesTx">
        <pc:chgData name="NABILA KSOURI" userId="823bbede9e18b08b" providerId="LiveId" clId="{83A69301-8A31-4933-9767-D8C3DC319774}" dt="2026-10-19T07:06:12.358" v="11" actId="20577"/>
        <pc:sldMkLst>
          <pc:docMk/>
          <pc:sldMk cId="105769476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88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3137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A598AC29-4D34-8FD0-7242-87215D36CB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8640" y="959137"/>
            <a:ext cx="8046719" cy="3567143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t>Accidents routiers en France | 2020–2024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4008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sz="1200" b="1" dirty="0"/>
              <a:t>Mission Data &amp; IA </a:t>
            </a:r>
            <a:r>
              <a:rPr lang="fr-FR" sz="1200" b="1" dirty="0"/>
              <a:t>: transformer les données en connaissances utiles à la prévention routière</a:t>
            </a:r>
            <a:endParaRPr sz="12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8046720" cy="1965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04850" y="1828800"/>
            <a:ext cx="74580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E46"/>
                </a:solidFill>
              </a:defRPr>
            </a:pPr>
            <a:r>
              <a:rPr lang="fr-FR" dirty="0">
                <a:solidFill>
                  <a:schemeClr val="bg1"/>
                </a:solidFill>
              </a:rPr>
              <a:t>Comprendre les accidents routiers pour mieux prévenir les conséquences graves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39" y="4160520"/>
            <a:ext cx="8046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5313B"/>
                </a:solidFill>
              </a:defRPr>
            </a:pPr>
            <a:r>
              <a:rPr sz="1400" b="1" dirty="0">
                <a:solidFill>
                  <a:schemeClr val="bg1"/>
                </a:solidFill>
              </a:rPr>
              <a:t>Nabila KSOURI   |   </a:t>
            </a:r>
            <a:r>
              <a:rPr sz="1400" b="1" dirty="0" err="1">
                <a:solidFill>
                  <a:schemeClr val="bg1"/>
                </a:solidFill>
              </a:rPr>
              <a:t>Octob</a:t>
            </a:r>
            <a:r>
              <a:rPr lang="fr-FR" sz="1400" b="1" dirty="0">
                <a:solidFill>
                  <a:schemeClr val="bg1"/>
                </a:solidFill>
              </a:rPr>
              <a:t>re</a:t>
            </a:r>
            <a:r>
              <a:rPr sz="1400" b="1" dirty="0">
                <a:solidFill>
                  <a:schemeClr val="bg1"/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dirty="0"/>
              <a:t>Problématique &amp; hypothèses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3222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Comprendre l'évolution des accidents et identifier les facteurs associés à leur gravité</a:t>
            </a:r>
            <a:endParaRPr sz="20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14186"/>
            <a:ext cx="8229600" cy="114300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833058"/>
            <a:ext cx="7909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PROBLÉMATIQUE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21792" y="2232681"/>
            <a:ext cx="7909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13B"/>
                </a:solidFill>
              </a:defRPr>
            </a:pPr>
            <a:r>
              <a:rPr lang="fr-FR" dirty="0"/>
              <a:t>Comment les accidents corporels ont-ils évolué en France entre 2020 et 2024, et quels facteurs sont associés aux conséquences les plus graves ?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" y="3131506"/>
            <a:ext cx="3977639" cy="146304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3268666"/>
            <a:ext cx="3657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ÉVOLUTION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21792" y="3689290"/>
            <a:ext cx="36575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313B"/>
                </a:solidFill>
              </a:defRPr>
            </a:pPr>
            <a:r>
              <a:rPr lang="fr-FR" dirty="0"/>
              <a:t>Les accidents ont-ils diminué entre 2020 et 2024 ? Observe-t-on des différences selon les territoires ?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709160" y="3131506"/>
            <a:ext cx="3977639" cy="146304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73752" y="3250378"/>
            <a:ext cx="3657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FACTEURS DE GRAVITÉ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873752" y="3689290"/>
            <a:ext cx="36575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313B"/>
                </a:solidFill>
              </a:defRPr>
            </a:pPr>
            <a:r>
              <a:rPr lang="fr-FR" dirty="0"/>
              <a:t>Les profils des usagers, les véhicules et les conditions de circulation sont-ils associés à des conséquences plus graves ?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e 54">
            <a:extLst>
              <a:ext uri="{FF2B5EF4-FFF2-40B4-BE49-F238E27FC236}">
                <a16:creationId xmlns:a16="http://schemas.microsoft.com/office/drawing/2014/main" id="{5C2AC063-B111-3EBC-B4C7-F8F65E88E86A}"/>
              </a:ext>
            </a:extLst>
          </p:cNvPr>
          <p:cNvGrpSpPr/>
          <p:nvPr/>
        </p:nvGrpSpPr>
        <p:grpSpPr>
          <a:xfrm>
            <a:off x="581025" y="1309509"/>
            <a:ext cx="7831455" cy="2524482"/>
            <a:chOff x="460437" y="1231496"/>
            <a:chExt cx="8114537" cy="2769881"/>
          </a:xfrm>
        </p:grpSpPr>
        <p:pic>
          <p:nvPicPr>
            <p:cNvPr id="51" name="Image 50">
              <a:extLst>
                <a:ext uri="{FF2B5EF4-FFF2-40B4-BE49-F238E27FC236}">
                  <a16:creationId xmlns:a16="http://schemas.microsoft.com/office/drawing/2014/main" id="{0638DFE5-75BE-7821-5659-867F31810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7610"/>
            <a:stretch/>
          </p:blipFill>
          <p:spPr>
            <a:xfrm>
              <a:off x="460437" y="1231496"/>
              <a:ext cx="8114537" cy="1869057"/>
            </a:xfrm>
            <a:prstGeom prst="rect">
              <a:avLst/>
            </a:prstGeom>
            <a:ln w="3175">
              <a:noFill/>
            </a:ln>
          </p:spPr>
        </p:pic>
        <p:pic>
          <p:nvPicPr>
            <p:cNvPr id="52" name="Image 51">
              <a:extLst>
                <a:ext uri="{FF2B5EF4-FFF2-40B4-BE49-F238E27FC236}">
                  <a16:creationId xmlns:a16="http://schemas.microsoft.com/office/drawing/2014/main" id="{31823746-9581-D794-6275-5CB2C780B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910" t="61100" r="29727"/>
            <a:stretch/>
          </p:blipFill>
          <p:spPr>
            <a:xfrm>
              <a:off x="1540700" y="3009849"/>
              <a:ext cx="5977921" cy="991528"/>
            </a:xfrm>
            <a:prstGeom prst="rect">
              <a:avLst/>
            </a:prstGeom>
            <a:ln w="3175">
              <a:noFill/>
            </a:ln>
          </p:spPr>
        </p:pic>
      </p:grpSp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dirty="0"/>
              <a:t>De la donnée brute à une base fiable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03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1BC8B2D2-2A06-EA17-271B-E4F7B3E91135}"/>
              </a:ext>
            </a:extLst>
          </p:cNvPr>
          <p:cNvSpPr txBox="1"/>
          <p:nvPr/>
        </p:nvSpPr>
        <p:spPr>
          <a:xfrm>
            <a:off x="438912" y="679637"/>
            <a:ext cx="78314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Source : données officielles BAAC — ONISR / data.gouv.fr | 2020–2024 | 20 fichiers CSV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4773D81C-E380-3985-B17D-33811F4D5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079" y="4006052"/>
            <a:ext cx="5218281" cy="561005"/>
          </a:xfrm>
          <a:prstGeom prst="rect">
            <a:avLst/>
          </a:prstGeom>
        </p:spPr>
      </p:pic>
      <p:sp>
        <p:nvSpPr>
          <p:cNvPr id="54" name="TextBox 19">
            <a:extLst>
              <a:ext uri="{FF2B5EF4-FFF2-40B4-BE49-F238E27FC236}">
                <a16:creationId xmlns:a16="http://schemas.microsoft.com/office/drawing/2014/main" id="{E156379F-2D43-86DF-4A5B-476C4C2CB27F}"/>
              </a:ext>
            </a:extLst>
          </p:cNvPr>
          <p:cNvSpPr txBox="1"/>
          <p:nvPr/>
        </p:nvSpPr>
        <p:spPr>
          <a:xfrm>
            <a:off x="589412" y="4089168"/>
            <a:ext cx="278766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E46"/>
                </a:solidFill>
              </a:defRPr>
            </a:pPr>
            <a:r>
              <a:rPr lang="fr-FR" dirty="0"/>
              <a:t>La base de données en chiffres</a:t>
            </a:r>
            <a:endParaRPr dirty="0"/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8CB72EBA-436A-21AB-46AC-95D7CA9E1F4E}"/>
              </a:ext>
            </a:extLst>
          </p:cNvPr>
          <p:cNvSpPr txBox="1"/>
          <p:nvPr/>
        </p:nvSpPr>
        <p:spPr>
          <a:xfrm>
            <a:off x="614276" y="4523078"/>
            <a:ext cx="69644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313B"/>
                </a:solidFill>
              </a:defRPr>
            </a:pPr>
            <a:r>
              <a:rPr lang="fr-FR" b="1" dirty="0"/>
              <a:t>BAAC : Bulletins d'analyse des accidents corporels de la circulation.</a:t>
            </a:r>
            <a:endParaRPr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dirty="0"/>
              <a:t>Une API pour accéder aux données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 rot="10800000" flipV="1">
            <a:off x="438912" y="4492823"/>
            <a:ext cx="73344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E46"/>
                </a:solidFill>
              </a:defRPr>
            </a:pPr>
            <a:r>
              <a:rPr lang="fr-FR" sz="1400" dirty="0"/>
              <a:t>API REST opérationnelle : consultation, création, modification et suppression des accidents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36CC884D-A9FE-FE57-2209-96E39C4C3C70}"/>
              </a:ext>
            </a:extLst>
          </p:cNvPr>
          <p:cNvSpPr txBox="1"/>
          <p:nvPr/>
        </p:nvSpPr>
        <p:spPr>
          <a:xfrm>
            <a:off x="438912" y="740574"/>
            <a:ext cx="78314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Une interface locale développée avec </a:t>
            </a:r>
            <a:r>
              <a:rPr lang="fr-FR" sz="2000" b="1" dirty="0" err="1"/>
              <a:t>FastAPI</a:t>
            </a:r>
            <a:r>
              <a:rPr lang="fr-FR" sz="2000" b="1" dirty="0"/>
              <a:t> pour consulter et gérer les données BAAC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104E2C1C-41A4-EC66-D363-85CD309A46AB}"/>
              </a:ext>
            </a:extLst>
          </p:cNvPr>
          <p:cNvGrpSpPr/>
          <p:nvPr/>
        </p:nvGrpSpPr>
        <p:grpSpPr>
          <a:xfrm>
            <a:off x="438912" y="1594780"/>
            <a:ext cx="8066261" cy="2890240"/>
            <a:chOff x="438911" y="1448460"/>
            <a:chExt cx="8066261" cy="3114300"/>
          </a:xfrm>
        </p:grpSpPr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7499CECA-BFCF-A01A-6A71-9C811A7CC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84177"/>
            <a:stretch/>
          </p:blipFill>
          <p:spPr>
            <a:xfrm>
              <a:off x="438911" y="1448460"/>
              <a:ext cx="8066261" cy="5419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21C93FCC-8BA9-CD12-7038-338EC2145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4635"/>
            <a:stretch/>
          </p:blipFill>
          <p:spPr>
            <a:xfrm>
              <a:off x="438911" y="1981346"/>
              <a:ext cx="8066261" cy="25814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dirty="0"/>
              <a:t>Cinq années d'accidents : quel bilan humain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3977639" cy="123444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96799"/>
                </a:solidFill>
              </a:defRPr>
            </a:pPr>
            <a:r>
              <a:t>Accidents corporels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92E46"/>
                </a:solidFill>
              </a:defRPr>
            </a:pPr>
            <a:r>
              <a:t>268 788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325880"/>
            <a:ext cx="3977639" cy="123444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4447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96799"/>
                </a:solidFill>
              </a:defRPr>
            </a:pPr>
            <a:r>
              <a:t>Usagers impliqués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80136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92E46"/>
                </a:solidFill>
              </a:defRPr>
            </a:pPr>
            <a:r>
              <a:t>612 181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88920"/>
            <a:ext cx="3977639" cy="123444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96799"/>
                </a:solidFill>
              </a:defRPr>
            </a:pPr>
            <a:r>
              <a:t>Personnes tuées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92E46"/>
                </a:solidFill>
              </a:defRPr>
            </a:pPr>
            <a:r>
              <a:t>16 379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788920"/>
            <a:ext cx="3977639" cy="123444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290779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96799"/>
                </a:solidFill>
              </a:defRPr>
            </a:pPr>
            <a:r>
              <a:t>Blessés hospitalisés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2644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92E46"/>
                </a:solidFill>
              </a:defRPr>
            </a:pPr>
            <a:r>
              <a:t>93 525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8971D3-8650-BA6D-FE98-82E180E3ABA0}"/>
              </a:ext>
            </a:extLst>
          </p:cNvPr>
          <p:cNvSpPr txBox="1"/>
          <p:nvPr/>
        </p:nvSpPr>
        <p:spPr>
          <a:xfrm>
            <a:off x="452502" y="4192926"/>
            <a:ext cx="8229600" cy="575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Derrière ces chiffres, une question essentielle : comment l'accidentalité a-t-elle évolué au fil des années ?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955AE11A-A383-D037-F9B1-E9301D81D10A}"/>
              </a:ext>
            </a:extLst>
          </p:cNvPr>
          <p:cNvSpPr txBox="1"/>
          <p:nvPr/>
        </p:nvSpPr>
        <p:spPr>
          <a:xfrm>
            <a:off x="438912" y="740574"/>
            <a:ext cx="7831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Accidents corporels enregistrés en France entre 2020 et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57E46379-AB46-E1D2-BCA2-281EBA0EC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92" y="1137964"/>
            <a:ext cx="7213283" cy="3187826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dirty="0"/>
              <a:t>À quelles périodes les accidents sont-ils les plus fréquents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1" y="4325790"/>
            <a:ext cx="81229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2E46"/>
                </a:solidFill>
              </a:defRPr>
            </a:pPr>
            <a:r>
              <a:rPr lang="fr-FR" dirty="0"/>
              <a:t>Les accidents présentent des niveaux souvent élevés en juin et à l'automne, tandis que 2020 se distingue par une forte baisse au printemps.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7EA4CFFB-2CE8-2EB0-EE39-801BE7D92D95}"/>
              </a:ext>
            </a:extLst>
          </p:cNvPr>
          <p:cNvSpPr txBox="1"/>
          <p:nvPr/>
        </p:nvSpPr>
        <p:spPr>
          <a:xfrm>
            <a:off x="438912" y="692949"/>
            <a:ext cx="8202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Une année 2020 atypique et des variations saisonnières entre 2021 et 2024.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>
            <a:extLst>
              <a:ext uri="{FF2B5EF4-FFF2-40B4-BE49-F238E27FC236}">
                <a16:creationId xmlns:a16="http://schemas.microsoft.com/office/drawing/2014/main" id="{AED53542-144C-A619-6501-6231C6854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956" y="1270551"/>
            <a:ext cx="6188822" cy="2712477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dirty="0"/>
              <a:t>Où se concentrent les victimes graves sur le territoire français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79233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E46"/>
                </a:solidFill>
              </a:defRPr>
            </a:pPr>
            <a:r>
              <a:rPr lang="fr-FR" dirty="0"/>
              <a:t>Les Bouches-du-Rhône arrivent en tête avec 4 291 victimes graves, devant le Rhône (2 826) et le Var (2 823).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0582E5C0-3C73-3E54-6167-94DAE5A170DB}"/>
              </a:ext>
            </a:extLst>
          </p:cNvPr>
          <p:cNvSpPr txBox="1"/>
          <p:nvPr/>
        </p:nvSpPr>
        <p:spPr>
          <a:xfrm>
            <a:off x="438911" y="743053"/>
            <a:ext cx="8705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Des disparités géographiques importantes entre les départements.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dirty="0"/>
              <a:t>Des analyses à la décision : un tableau de bord interactif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1166" y="1047221"/>
            <a:ext cx="273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dirty="0"/>
              <a:t>VUE D’ENSEMBLE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8153" y="1062684"/>
            <a:ext cx="273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dirty="0"/>
              <a:t>TEMPORALITÉ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9660" y="2886332"/>
            <a:ext cx="26118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dirty="0"/>
              <a:t>PROFILS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5667" y="2886332"/>
            <a:ext cx="2736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dirty="0"/>
              <a:t>GÉOGRAPHIE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68275392-3827-52CE-1700-7999F3E225BC}"/>
              </a:ext>
            </a:extLst>
          </p:cNvPr>
          <p:cNvSpPr txBox="1"/>
          <p:nvPr/>
        </p:nvSpPr>
        <p:spPr>
          <a:xfrm>
            <a:off x="438911" y="647113"/>
            <a:ext cx="83393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4 vues complémentaires pour explorer les accidents corporels de 2020 à 2024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89CF62DE-FC43-59A4-2662-09DD343D3587}"/>
              </a:ext>
            </a:extLst>
          </p:cNvPr>
          <p:cNvSpPr txBox="1"/>
          <p:nvPr/>
        </p:nvSpPr>
        <p:spPr>
          <a:xfrm>
            <a:off x="438911" y="4553319"/>
            <a:ext cx="7955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2E46"/>
                </a:solidFill>
              </a:defRPr>
            </a:pPr>
            <a:r>
              <a:rPr lang="fr-FR" dirty="0"/>
              <a:t>Un outil interactif pour identifier les tendances et orienter les actions de prévention</a:t>
            </a:r>
            <a:endParaRPr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58466DE0-4B24-2AC9-E10A-E893AE348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935" y="3191951"/>
            <a:ext cx="3031295" cy="127748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FAA8D4C1-2046-FE29-4AEC-C2A27B031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165" y="3224886"/>
            <a:ext cx="3189791" cy="1179459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16A69DC2-2864-8091-EB49-F777454B4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0935" y="1416700"/>
            <a:ext cx="3031295" cy="1277484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E6CAC07F-C8C6-E9EF-EAAA-29ED9636FB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164" y="1385776"/>
            <a:ext cx="3189793" cy="13084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dirty="0"/>
              <a:t>Peut-on anticiper la gravité d'un accident grâce aux données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rPr dirty="0"/>
              <a:t>BAAC 2020–2024  |  </a:t>
            </a:r>
            <a:r>
              <a:rPr dirty="0" err="1"/>
              <a:t>Projet</a:t>
            </a:r>
            <a:r>
              <a:rPr dirty="0"/>
              <a:t>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4033" y="1797484"/>
            <a:ext cx="2255934" cy="1490911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4615" y="1916356"/>
            <a:ext cx="1271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2. Comparer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489757" y="2355268"/>
            <a:ext cx="22102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5313B"/>
                </a:solidFill>
              </a:defRPr>
            </a:pPr>
            <a:r>
              <a:rPr lang="fr-FR" dirty="0"/>
              <a:t>Régression logistique et </a:t>
            </a:r>
            <a:r>
              <a:rPr lang="fr-FR" dirty="0" err="1"/>
              <a:t>Random</a:t>
            </a:r>
            <a:r>
              <a:rPr lang="fr-FR" dirty="0"/>
              <a:t> Forest, puis optimisation avec </a:t>
            </a:r>
            <a:r>
              <a:rPr lang="fr-FR" dirty="0" err="1"/>
              <a:t>GridSearchCV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7205E1A4-3947-E5F8-918A-6DC7B16346D9}"/>
              </a:ext>
            </a:extLst>
          </p:cNvPr>
          <p:cNvSpPr txBox="1"/>
          <p:nvPr/>
        </p:nvSpPr>
        <p:spPr>
          <a:xfrm>
            <a:off x="438912" y="730527"/>
            <a:ext cx="82021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Comparer plusieurs modèles pour identifier les situations associées aux conséquences les plus graves.</a:t>
            </a:r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F21752FA-EF1B-8D20-5BD7-A272A3BA762D}"/>
              </a:ext>
            </a:extLst>
          </p:cNvPr>
          <p:cNvSpPr/>
          <p:nvPr/>
        </p:nvSpPr>
        <p:spPr>
          <a:xfrm>
            <a:off x="627772" y="1774520"/>
            <a:ext cx="2255933" cy="1490911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D082A572-FB39-2403-D3C3-21C5A5EA1603}"/>
              </a:ext>
            </a:extLst>
          </p:cNvPr>
          <p:cNvSpPr txBox="1"/>
          <p:nvPr/>
        </p:nvSpPr>
        <p:spPr>
          <a:xfrm>
            <a:off x="1268353" y="1918444"/>
            <a:ext cx="1271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1. Préparer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0680EA63-CA60-136B-8DB0-3B0FF9D9A7C2}"/>
              </a:ext>
            </a:extLst>
          </p:cNvPr>
          <p:cNvSpPr txBox="1"/>
          <p:nvPr/>
        </p:nvSpPr>
        <p:spPr>
          <a:xfrm>
            <a:off x="673494" y="2332304"/>
            <a:ext cx="215738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5313B"/>
                </a:solidFill>
              </a:defRPr>
            </a:pPr>
            <a:r>
              <a:rPr lang="fr-FR" dirty="0"/>
              <a:t>14 variables explicatives et préparation des données</a:t>
            </a:r>
            <a:endParaRPr dirty="0"/>
          </a:p>
        </p:txBody>
      </p:sp>
      <p:sp>
        <p:nvSpPr>
          <p:cNvPr id="20" name="Rounded Rectangle 10">
            <a:extLst>
              <a:ext uri="{FF2B5EF4-FFF2-40B4-BE49-F238E27FC236}">
                <a16:creationId xmlns:a16="http://schemas.microsoft.com/office/drawing/2014/main" id="{92A70CEA-CA0D-2DFF-D77B-45645FFB86F4}"/>
              </a:ext>
            </a:extLst>
          </p:cNvPr>
          <p:cNvSpPr/>
          <p:nvPr/>
        </p:nvSpPr>
        <p:spPr>
          <a:xfrm>
            <a:off x="6260295" y="1814186"/>
            <a:ext cx="2255934" cy="1490911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6EF2338A-D62D-B648-C22C-2B61B8A03B05}"/>
              </a:ext>
            </a:extLst>
          </p:cNvPr>
          <p:cNvSpPr txBox="1"/>
          <p:nvPr/>
        </p:nvSpPr>
        <p:spPr>
          <a:xfrm>
            <a:off x="7001338" y="1874049"/>
            <a:ext cx="17888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3. Sélectionner</a:t>
            </a:r>
            <a:endParaRPr dirty="0"/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CF7C13DF-C0D0-7BEE-8265-3F72D28BB218}"/>
              </a:ext>
            </a:extLst>
          </p:cNvPr>
          <p:cNvSpPr txBox="1"/>
          <p:nvPr/>
        </p:nvSpPr>
        <p:spPr>
          <a:xfrm>
            <a:off x="6562803" y="2371970"/>
            <a:ext cx="187138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5313B"/>
                </a:solidFill>
              </a:defRPr>
            </a:pPr>
            <a:r>
              <a:rPr lang="fr-FR" dirty="0" err="1"/>
              <a:t>Random</a:t>
            </a:r>
            <a:r>
              <a:rPr lang="fr-FR" dirty="0"/>
              <a:t> Forest optimisé, seuil de décision : 0,45</a:t>
            </a:r>
            <a:endParaRPr dirty="0"/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101AC7E4-A3F8-ED5A-2974-287C27F7805E}"/>
              </a:ext>
            </a:extLst>
          </p:cNvPr>
          <p:cNvSpPr/>
          <p:nvPr/>
        </p:nvSpPr>
        <p:spPr>
          <a:xfrm>
            <a:off x="627771" y="3503710"/>
            <a:ext cx="7806417" cy="811787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26B03CB1-F8BB-2FAD-5D27-2202ADBCA613}"/>
              </a:ext>
            </a:extLst>
          </p:cNvPr>
          <p:cNvSpPr txBox="1"/>
          <p:nvPr/>
        </p:nvSpPr>
        <p:spPr>
          <a:xfrm>
            <a:off x="1490597" y="3588394"/>
            <a:ext cx="67983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Notre priorité : limiter les cas graves non détectés.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5C1781AE-0062-0160-9475-1AF10B9BE63C}"/>
              </a:ext>
            </a:extLst>
          </p:cNvPr>
          <p:cNvSpPr txBox="1"/>
          <p:nvPr/>
        </p:nvSpPr>
        <p:spPr>
          <a:xfrm>
            <a:off x="1490597" y="3935094"/>
            <a:ext cx="679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Privilégier le rappel tout en surveillant les fausses alertes.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A30E2191-1215-90BE-4403-507ED1344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00" y="3503710"/>
            <a:ext cx="472313" cy="811787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49668C16-908D-C984-9E5E-9156CB5E7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22" y="1789529"/>
            <a:ext cx="403202" cy="516603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A85E96EC-DDAB-DDB8-5332-97E4E9D14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584" y="1789529"/>
            <a:ext cx="409009" cy="516371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5143A760-5B00-90BA-3975-2E1ECD0E3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65" y="1814186"/>
            <a:ext cx="410947" cy="4428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dirty="0"/>
              <a:t>Le modèle optimisé détecte-t-il mieux les cas graves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09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7205E1A4-3947-E5F8-918A-6DC7B16346D9}"/>
              </a:ext>
            </a:extLst>
          </p:cNvPr>
          <p:cNvSpPr txBox="1"/>
          <p:nvPr/>
        </p:nvSpPr>
        <p:spPr>
          <a:xfrm>
            <a:off x="438912" y="692949"/>
            <a:ext cx="82021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Une optimisation qui améliore légèrement la détection des cas graves, au prix d'un plus grand nombre de fausses alertes</a:t>
            </a:r>
          </a:p>
        </p:txBody>
      </p:sp>
      <p:pic>
        <p:nvPicPr>
          <p:cNvPr id="9218" name="Picture 2" descr="Pièce jointe utilisateur">
            <a:extLst>
              <a:ext uri="{FF2B5EF4-FFF2-40B4-BE49-F238E27FC236}">
                <a16:creationId xmlns:a16="http://schemas.microsoft.com/office/drawing/2014/main" id="{9282E931-47D0-C9D1-2901-6A85CB2C1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6"/>
          <a:stretch/>
        </p:blipFill>
        <p:spPr bwMode="auto">
          <a:xfrm>
            <a:off x="1991638" y="1479120"/>
            <a:ext cx="6420842" cy="2977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14">
            <a:extLst>
              <a:ext uri="{FF2B5EF4-FFF2-40B4-BE49-F238E27FC236}">
                <a16:creationId xmlns:a16="http://schemas.microsoft.com/office/drawing/2014/main" id="{C5D29053-009C-311D-F475-BB41C8912366}"/>
              </a:ext>
            </a:extLst>
          </p:cNvPr>
          <p:cNvSpPr txBox="1"/>
          <p:nvPr/>
        </p:nvSpPr>
        <p:spPr>
          <a:xfrm>
            <a:off x="466907" y="1789332"/>
            <a:ext cx="1235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70,45 %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87CC122-3A64-8532-8577-F81AE41080DE}"/>
              </a:ext>
            </a:extLst>
          </p:cNvPr>
          <p:cNvSpPr txBox="1"/>
          <p:nvPr/>
        </p:nvSpPr>
        <p:spPr>
          <a:xfrm>
            <a:off x="471481" y="1560732"/>
            <a:ext cx="1235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5313B"/>
                </a:solidFill>
              </a:defRPr>
            </a:pPr>
            <a:r>
              <a:rPr lang="fr-FR" b="1" dirty="0"/>
              <a:t>Rappel initial</a:t>
            </a:r>
            <a:endParaRPr b="1" dirty="0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C69AF6E6-7B01-024F-D2FF-ADF3FC8D5785}"/>
              </a:ext>
            </a:extLst>
          </p:cNvPr>
          <p:cNvSpPr txBox="1"/>
          <p:nvPr/>
        </p:nvSpPr>
        <p:spPr>
          <a:xfrm>
            <a:off x="468995" y="3682846"/>
            <a:ext cx="1235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71,27 %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61D300FE-ECC3-6601-9D8C-5636CCD111E6}"/>
              </a:ext>
            </a:extLst>
          </p:cNvPr>
          <p:cNvSpPr txBox="1"/>
          <p:nvPr/>
        </p:nvSpPr>
        <p:spPr>
          <a:xfrm>
            <a:off x="473569" y="3454246"/>
            <a:ext cx="1235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5313B"/>
                </a:solidFill>
              </a:defRPr>
            </a:pPr>
            <a:r>
              <a:rPr lang="fr-FR" b="1" dirty="0"/>
              <a:t>Rappel optimisé</a:t>
            </a:r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7E94A2D1-7032-7BAA-B0C1-43DE3C3384FE}"/>
              </a:ext>
            </a:extLst>
          </p:cNvPr>
          <p:cNvSpPr/>
          <p:nvPr/>
        </p:nvSpPr>
        <p:spPr>
          <a:xfrm>
            <a:off x="995915" y="2262098"/>
            <a:ext cx="95250" cy="113854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23C39E0E-AD53-C5F5-5DFD-2EE23D6C2AA1}"/>
              </a:ext>
            </a:extLst>
          </p:cNvPr>
          <p:cNvSpPr txBox="1"/>
          <p:nvPr/>
        </p:nvSpPr>
        <p:spPr>
          <a:xfrm>
            <a:off x="292357" y="4441970"/>
            <a:ext cx="90144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sz="1400" dirty="0"/>
              <a:t>+0,82 point de rappel : une amélioration modeste, mais cohérente avec notre priorité de détection des cas graves.</a:t>
            </a:r>
          </a:p>
        </p:txBody>
      </p:sp>
    </p:spTree>
    <p:extLst>
      <p:ext uri="{BB962C8B-B14F-4D97-AF65-F5344CB8AC3E}">
        <p14:creationId xmlns:p14="http://schemas.microsoft.com/office/powerpoint/2010/main" val="1057694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sz="2400" b="1" dirty="0">
                <a:solidFill>
                  <a:srgbClr val="192E46"/>
                </a:solidFill>
              </a:rPr>
              <a:t>Le modèle parvient-il à détecter les situations graves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538822"/>
            <a:ext cx="1476192" cy="105156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48550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6799"/>
                </a:solidFill>
              </a:defRPr>
            </a:pPr>
            <a:r>
              <a:rPr sz="1400" dirty="0"/>
              <a:t>Rappel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02920" y="2023454"/>
            <a:ext cx="14761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92E46"/>
                </a:solidFill>
              </a:defRPr>
            </a:pPr>
            <a:r>
              <a:rPr b="1" dirty="0">
                <a:solidFill>
                  <a:srgbClr val="196799"/>
                </a:solidFill>
              </a:rPr>
              <a:t>71,27 %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4328" y="1538822"/>
            <a:ext cx="1476192" cy="105156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15768" y="1648550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6799"/>
                </a:solidFill>
              </a:defRPr>
            </a:pPr>
            <a:r>
              <a:rPr sz="1400" dirty="0" err="1"/>
              <a:t>Précision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715768" y="1986878"/>
            <a:ext cx="125498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92E46"/>
                </a:solidFill>
              </a:defRPr>
            </a:pPr>
            <a:r>
              <a:rPr sz="2200" b="1" dirty="0">
                <a:solidFill>
                  <a:srgbClr val="196799"/>
                </a:solidFill>
              </a:rPr>
              <a:t>55,68</a:t>
            </a:r>
            <a:r>
              <a:rPr dirty="0"/>
              <a:t> </a:t>
            </a:r>
            <a:r>
              <a:rPr sz="2200" b="1" dirty="0">
                <a:solidFill>
                  <a:srgbClr val="196799"/>
                </a:solidFill>
              </a:rPr>
              <a:t>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37176" y="1538822"/>
            <a:ext cx="1476192" cy="105156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8616" y="1648550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6799"/>
                </a:solidFill>
              </a:defRPr>
            </a:pPr>
            <a:r>
              <a:rPr sz="1400" dirty="0"/>
              <a:t>F1-score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937760" y="1971823"/>
            <a:ext cx="10872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92E46"/>
                </a:solidFill>
              </a:defRPr>
            </a:pPr>
            <a:r>
              <a:rPr sz="2200" b="1" dirty="0">
                <a:solidFill>
                  <a:srgbClr val="196799"/>
                </a:solidFill>
              </a:rPr>
              <a:t>62,52</a:t>
            </a:r>
            <a:r>
              <a:rPr dirty="0"/>
              <a:t> </a:t>
            </a:r>
            <a:r>
              <a:rPr sz="2200" b="1" dirty="0">
                <a:solidFill>
                  <a:srgbClr val="196799"/>
                </a:solidFill>
              </a:rPr>
              <a:t>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0024" y="1538822"/>
            <a:ext cx="1476192" cy="105156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41464" y="1648550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6799"/>
                </a:solidFill>
              </a:defRPr>
            </a:pPr>
            <a:r>
              <a:rPr sz="1400" dirty="0"/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1986878"/>
            <a:ext cx="12710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92E46"/>
                </a:solidFill>
              </a:defRPr>
            </a:pPr>
            <a:r>
              <a:rPr sz="2200" b="1" dirty="0">
                <a:solidFill>
                  <a:srgbClr val="196799"/>
                </a:solidFill>
              </a:rPr>
              <a:t>76,54</a:t>
            </a:r>
            <a:r>
              <a:rPr dirty="0"/>
              <a:t> </a:t>
            </a:r>
            <a:r>
              <a:rPr sz="2200" b="1" dirty="0">
                <a:solidFill>
                  <a:srgbClr val="196799"/>
                </a:solidFill>
              </a:rPr>
              <a:t>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34640"/>
            <a:ext cx="3977639" cy="118872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2953512"/>
            <a:ext cx="3657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>
                <a:solidFill>
                  <a:srgbClr val="00B050"/>
                </a:solidFill>
              </a:rPr>
              <a:t>Cas de gravité élevée détectés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70" y="3602307"/>
            <a:ext cx="36575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5313B"/>
                </a:solidFill>
              </a:defRPr>
            </a:pPr>
            <a:r>
              <a:rPr lang="fr-FR" dirty="0"/>
              <a:t>Correctement identifiés parmi les usagers du jeu de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834640"/>
            <a:ext cx="3977639" cy="118872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1" y="3305782"/>
            <a:ext cx="3657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dirty="0"/>
              <a:t>5 524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3459" y="3611053"/>
            <a:ext cx="365759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5313B"/>
                </a:solidFill>
              </a:defRPr>
            </a:pPr>
            <a:r>
              <a:rPr lang="fr-FR" dirty="0"/>
              <a:t>Non détectés par le modèle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594360" y="4270248"/>
            <a:ext cx="7955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2E46"/>
                </a:solidFill>
              </a:defRPr>
            </a:pPr>
            <a:r>
              <a:rPr lang="fr-FR" dirty="0"/>
              <a:t>Le modèle constitue une aide à l'analyse, mais ne permet pas encore de détecter toutes les situations graves.</a:t>
            </a: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44A39A09-FE98-8B27-C1B8-5AE0194F2F72}"/>
              </a:ext>
            </a:extLst>
          </p:cNvPr>
          <p:cNvSpPr txBox="1"/>
          <p:nvPr/>
        </p:nvSpPr>
        <p:spPr>
          <a:xfrm>
            <a:off x="438912" y="692949"/>
            <a:ext cx="82021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Un modèle capable d'identifier plus de 7 cas graves sur 10, mais qui présente encore des limites.</a:t>
            </a: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B882DB5A-1298-0D06-3653-DA174CDBCF0A}"/>
              </a:ext>
            </a:extLst>
          </p:cNvPr>
          <p:cNvSpPr txBox="1"/>
          <p:nvPr/>
        </p:nvSpPr>
        <p:spPr>
          <a:xfrm>
            <a:off x="658370" y="3305782"/>
            <a:ext cx="3657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dirty="0"/>
              <a:t>13 704</a:t>
            </a: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ACD132AA-4CA5-D31A-2F9D-8BDB11C3A9DF}"/>
              </a:ext>
            </a:extLst>
          </p:cNvPr>
          <p:cNvSpPr txBox="1"/>
          <p:nvPr/>
        </p:nvSpPr>
        <p:spPr>
          <a:xfrm>
            <a:off x="4754881" y="2953512"/>
            <a:ext cx="3657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>
                <a:solidFill>
                  <a:srgbClr val="FF0000"/>
                </a:solidFill>
              </a:rPr>
              <a:t>Cas de gravité élevée non détectés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dirty="0"/>
              <a:t>Comment exploiter l'IA tout en maîtrisant ses risques ?</a:t>
            </a:r>
            <a:endParaRPr lang="pt-BR" dirty="0"/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96860"/>
            <a:ext cx="3977639" cy="118872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615732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dirty="0"/>
              <a:t>IA AGENTIQUE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54644"/>
            <a:ext cx="3657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5313B"/>
                </a:solidFill>
              </a:defRPr>
            </a:pPr>
            <a:r>
              <a:rPr lang="fr-FR" dirty="0"/>
              <a:t>Automatisation assistée des tâches d'analyse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96860"/>
            <a:ext cx="3977639" cy="118872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1" y="1615732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t>DONNÉES AI-READY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2054644"/>
            <a:ext cx="3657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5313B"/>
                </a:solidFill>
              </a:defRPr>
            </a:pPr>
            <a:r>
              <a:rPr lang="fr-FR" dirty="0"/>
              <a:t>Qualité, documentation et traçabilité des données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57200" y="2914180"/>
            <a:ext cx="3977639" cy="118872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3033051"/>
            <a:ext cx="3657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ANALYSE EN TEMPS RÉEL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471963"/>
            <a:ext cx="3657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5313B"/>
                </a:solidFill>
              </a:defRPr>
            </a:pPr>
            <a:r>
              <a:rPr lang="fr-FR" dirty="0"/>
              <a:t>Actualisation des indicateurs et détection plus rapide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914180"/>
            <a:ext cx="3977639" cy="118872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28031" y="3033051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t>IA RESPONSABLE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1" y="3471963"/>
            <a:ext cx="3657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5313B"/>
                </a:solidFill>
              </a:defRPr>
            </a:pPr>
            <a:r>
              <a:rPr lang="fr-FR" dirty="0"/>
              <a:t>Biais, erreurs prédictives et supervision humaine</a:t>
            </a:r>
            <a:endParaRPr dirty="0"/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F9B42297-3165-AFE8-1A66-1F7491695B0F}"/>
              </a:ext>
            </a:extLst>
          </p:cNvPr>
          <p:cNvSpPr txBox="1"/>
          <p:nvPr/>
        </p:nvSpPr>
        <p:spPr>
          <a:xfrm>
            <a:off x="438912" y="692949"/>
            <a:ext cx="82021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Des innovations prometteuses qui nécessitent des données fiables et une supervision humaine.</a:t>
            </a: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4F224874-4AC3-76C6-4B1F-3EC9AD805D56}"/>
              </a:ext>
            </a:extLst>
          </p:cNvPr>
          <p:cNvSpPr txBox="1"/>
          <p:nvPr/>
        </p:nvSpPr>
        <p:spPr>
          <a:xfrm>
            <a:off x="438912" y="4226663"/>
            <a:ext cx="82021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Dans ce projet, le principal enjeu est de limiter les erreurs de prédiction sans automatiser les décisions de prévention.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dirty="0"/>
              <a:t>Comment transformer les résultats en actions de prévention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12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9633406C-4547-F734-C7A0-AAD930F9F2B1}"/>
              </a:ext>
            </a:extLst>
          </p:cNvPr>
          <p:cNvSpPr txBox="1"/>
          <p:nvPr/>
        </p:nvSpPr>
        <p:spPr>
          <a:xfrm>
            <a:off x="438912" y="692949"/>
            <a:ext cx="82021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Trois enseignements pour orienter les priorités, tout en tenant compte des limites des données.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3832EA7-636C-F18E-57DE-D38877261F68}"/>
              </a:ext>
            </a:extLst>
          </p:cNvPr>
          <p:cNvSpPr txBox="1"/>
          <p:nvPr/>
        </p:nvSpPr>
        <p:spPr>
          <a:xfrm>
            <a:off x="457200" y="4046326"/>
            <a:ext cx="802843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70C0"/>
                </a:solidFill>
              </a:rPr>
              <a:t>LIMITES</a:t>
            </a:r>
            <a:r>
              <a:rPr lang="fr-FR" dirty="0"/>
              <a:t> </a:t>
            </a:r>
            <a:r>
              <a:rPr lang="fr-FR" sz="1600" dirty="0">
                <a:solidFill>
                  <a:srgbClr val="25313B"/>
                </a:solidFill>
              </a:rPr>
              <a:t>: absence de données d'exposition au trafic, biais possibles et performances prédictives perfectibles.</a:t>
            </a:r>
            <a:endParaRPr lang="fr-FR" sz="1400" dirty="0">
              <a:solidFill>
                <a:srgbClr val="25313B"/>
              </a:solidFill>
            </a:endParaRP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84C7D99D-5C68-EC6C-C1EE-655EF9EBB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449355"/>
              </p:ext>
            </p:extLst>
          </p:nvPr>
        </p:nvGraphicFramePr>
        <p:xfrm>
          <a:off x="480060" y="1593509"/>
          <a:ext cx="8183880" cy="2314096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4091940">
                  <a:extLst>
                    <a:ext uri="{9D8B030D-6E8A-4147-A177-3AD203B41FA5}">
                      <a16:colId xmlns:a16="http://schemas.microsoft.com/office/drawing/2014/main" val="711640325"/>
                    </a:ext>
                  </a:extLst>
                </a:gridCol>
                <a:gridCol w="4091940">
                  <a:extLst>
                    <a:ext uri="{9D8B030D-6E8A-4147-A177-3AD203B41FA5}">
                      <a16:colId xmlns:a16="http://schemas.microsoft.com/office/drawing/2014/main" val="893109413"/>
                    </a:ext>
                  </a:extLst>
                </a:gridCol>
              </a:tblGrid>
              <a:tr h="398251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rgbClr val="196799"/>
                          </a:solidFill>
                          <a:latin typeface="+mn-lt"/>
                          <a:ea typeface="+mn-ea"/>
                          <a:cs typeface="+mn-cs"/>
                        </a:rPr>
                        <a:t>RÉSULTAT OBSERVÉ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rgbClr val="196799"/>
                          </a:solidFill>
                        </a:rPr>
                        <a:t>RECOMMANDATIONS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356024"/>
                  </a:ext>
                </a:extLst>
              </a:tr>
              <a:tr h="621925">
                <a:tc>
                  <a:txBody>
                    <a:bodyPr/>
                    <a:lstStyle/>
                    <a:p>
                      <a:r>
                        <a:rPr lang="fr-FR" sz="1600" b="1" kern="1200" dirty="0">
                          <a:solidFill>
                            <a:srgbClr val="25313B"/>
                          </a:solidFill>
                          <a:latin typeface="+mn-lt"/>
                          <a:ea typeface="+mn-ea"/>
                          <a:cs typeface="+mn-cs"/>
                        </a:rPr>
                        <a:t>Piétons : 32,72 % de gravité élevée ; deux-roues motorisés : 34,37 %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b="1" kern="1200" dirty="0">
                          <a:solidFill>
                            <a:srgbClr val="25313B"/>
                          </a:solidFill>
                          <a:latin typeface="+mn-lt"/>
                          <a:ea typeface="+mn-ea"/>
                          <a:cs typeface="+mn-cs"/>
                        </a:rPr>
                        <a:t>Renforcer la prévention auprès des usagers vulnérables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823214"/>
                  </a:ext>
                </a:extLst>
              </a:tr>
              <a:tr h="621925">
                <a:tc>
                  <a:txBody>
                    <a:bodyPr/>
                    <a:lstStyle/>
                    <a:p>
                      <a:r>
                        <a:rPr lang="fr-FR" sz="1600" b="1" kern="1200" dirty="0">
                          <a:solidFill>
                            <a:srgbClr val="25313B"/>
                          </a:solidFill>
                          <a:latin typeface="+mn-lt"/>
                          <a:ea typeface="+mn-ea"/>
                          <a:cs typeface="+mn-cs"/>
                        </a:rPr>
                        <a:t>Hors agglomération : 25,78 % contre 13,05 % en agglomération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b="1" kern="1200" dirty="0">
                          <a:solidFill>
                            <a:srgbClr val="25313B"/>
                          </a:solidFill>
                          <a:latin typeface="+mn-lt"/>
                          <a:ea typeface="+mn-ea"/>
                          <a:cs typeface="+mn-cs"/>
                        </a:rPr>
                        <a:t>Approfondir l'étude des routes et contextes hors agglomération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062037"/>
                  </a:ext>
                </a:extLst>
              </a:tr>
              <a:tr h="671995">
                <a:tc>
                  <a:txBody>
                    <a:bodyPr/>
                    <a:lstStyle/>
                    <a:p>
                      <a:r>
                        <a:rPr lang="fr-FR" sz="1600" b="1" kern="1200" dirty="0">
                          <a:solidFill>
                            <a:srgbClr val="25313B"/>
                          </a:solidFill>
                          <a:latin typeface="+mn-lt"/>
                          <a:ea typeface="+mn-ea"/>
                          <a:cs typeface="+mn-cs"/>
                        </a:rPr>
                        <a:t>28,73 % des cas graves non détectés par le modèle optimisé présenté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b="1" kern="1200" dirty="0">
                          <a:solidFill>
                            <a:srgbClr val="25313B"/>
                          </a:solidFill>
                          <a:latin typeface="+mn-lt"/>
                          <a:ea typeface="+mn-ea"/>
                          <a:cs typeface="+mn-cs"/>
                        </a:rPr>
                        <a:t>Améliorer le modèle et maintenir une supervision humaine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011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9728"/>
          </a:xfrm>
          <a:prstGeom prst="roundRect">
            <a:avLst/>
          </a:prstGeom>
          <a:solidFill>
            <a:srgbClr val="19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E46"/>
                </a:solidFill>
              </a:defRPr>
            </a:pPr>
            <a:r>
              <a:rPr lang="fr-FR" dirty="0"/>
              <a:t>Conclusion — Que retenir de cinq années d'accidents routiers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800600"/>
            <a:ext cx="8321040" cy="13716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846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27E"/>
                </a:solidFill>
              </a:defRPr>
            </a:pPr>
            <a:r>
              <a:t>BAAC 2020–2024  |  Projet final Data Analyst  |  Nabila KSOURI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96799"/>
                </a:solidFill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4378"/>
            <a:ext cx="7860082" cy="96012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5462" y="1346002"/>
            <a:ext cx="700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Hypothèse 1 — Les accidents ont-ils diminué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5462" y="1730572"/>
            <a:ext cx="7006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313B"/>
                </a:solidFill>
              </a:defRPr>
            </a:pPr>
            <a:r>
              <a:rPr lang="fr-FR" dirty="0"/>
              <a:t>Une reprise en 2021, suivie d'une légère baisse jusqu'en 2024. L'année 2020 reste atypique.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01617" y="4507766"/>
            <a:ext cx="8130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sz="1400" dirty="0">
                <a:solidFill>
                  <a:srgbClr val="25313B"/>
                </a:solidFill>
              </a:rPr>
              <a:t>Transformer les données en connaissances pour orienter une prévention routière plus ciblée.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88CC6D83-53FF-CF57-4325-908100798425}"/>
              </a:ext>
            </a:extLst>
          </p:cNvPr>
          <p:cNvSpPr txBox="1"/>
          <p:nvPr/>
        </p:nvSpPr>
        <p:spPr>
          <a:xfrm>
            <a:off x="438912" y="692949"/>
            <a:ext cx="83393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27E"/>
                </a:solidFill>
              </a:defRPr>
            </a:pPr>
            <a:r>
              <a:rPr lang="fr-FR" sz="2000" b="1" dirty="0"/>
              <a:t>Deux questions de départ, des résultats concrets et des pistes de prévention.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A35D9A7-449C-42C6-7979-6B494C3B1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26" y="1204377"/>
            <a:ext cx="482735" cy="576299"/>
          </a:xfrm>
          <a:prstGeom prst="rect">
            <a:avLst/>
          </a:prstGeom>
        </p:spPr>
      </p:pic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68AD33AD-3CCC-2B8A-BE7C-5745D79992C2}"/>
              </a:ext>
            </a:extLst>
          </p:cNvPr>
          <p:cNvSpPr/>
          <p:nvPr/>
        </p:nvSpPr>
        <p:spPr>
          <a:xfrm>
            <a:off x="471814" y="2346332"/>
            <a:ext cx="7860082" cy="96012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A962ADC6-41D2-5817-31F7-CA84CC8C78DA}"/>
              </a:ext>
            </a:extLst>
          </p:cNvPr>
          <p:cNvSpPr txBox="1"/>
          <p:nvPr/>
        </p:nvSpPr>
        <p:spPr>
          <a:xfrm>
            <a:off x="1200076" y="2487956"/>
            <a:ext cx="700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Hypothèse 2 — Quels facteurs sont associés à la gravité ?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74314474-E3B0-2304-784B-7655352CA193}"/>
              </a:ext>
            </a:extLst>
          </p:cNvPr>
          <p:cNvSpPr txBox="1"/>
          <p:nvPr/>
        </p:nvSpPr>
        <p:spPr>
          <a:xfrm>
            <a:off x="1200076" y="2797370"/>
            <a:ext cx="7006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313B"/>
                </a:solidFill>
              </a:defRPr>
            </a:pPr>
            <a:r>
              <a:rPr lang="fr-FR" dirty="0"/>
              <a:t>Les profils des usagers, les catégories de véhicules et les contextes routiers présentent des différences importantes de gravité.</a:t>
            </a:r>
            <a:endParaRPr dirty="0"/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13DE80CC-9CB5-2B53-47DC-0EDAEF15DFC8}"/>
              </a:ext>
            </a:extLst>
          </p:cNvPr>
          <p:cNvSpPr/>
          <p:nvPr/>
        </p:nvSpPr>
        <p:spPr>
          <a:xfrm>
            <a:off x="486428" y="3475760"/>
            <a:ext cx="7860082" cy="96012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DBBB0F58-B091-9DB6-0B5E-0C504EA46053}"/>
              </a:ext>
            </a:extLst>
          </p:cNvPr>
          <p:cNvSpPr txBox="1"/>
          <p:nvPr/>
        </p:nvSpPr>
        <p:spPr>
          <a:xfrm>
            <a:off x="1214690" y="3617384"/>
            <a:ext cx="700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799"/>
                </a:solidFill>
              </a:defRPr>
            </a:pPr>
            <a:r>
              <a:rPr lang="fr-FR" dirty="0"/>
              <a:t>Apport du Machine Learning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2A7E1F56-CFF0-D983-4A2E-F357FF1C9F91}"/>
              </a:ext>
            </a:extLst>
          </p:cNvPr>
          <p:cNvSpPr txBox="1"/>
          <p:nvPr/>
        </p:nvSpPr>
        <p:spPr>
          <a:xfrm>
            <a:off x="1214690" y="3914272"/>
            <a:ext cx="7006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313B"/>
                </a:solidFill>
              </a:defRPr>
            </a:pPr>
            <a:r>
              <a:rPr lang="fr-FR" dirty="0"/>
              <a:t>Un modèle capable de détecter </a:t>
            </a:r>
            <a:r>
              <a:rPr lang="fr-FR" b="1" dirty="0"/>
              <a:t>environ</a:t>
            </a:r>
            <a:r>
              <a:rPr lang="fr-FR" dirty="0"/>
              <a:t> 71 % des cas graves, mais qui nécessite encore des améliorations.</a:t>
            </a:r>
            <a:endParaRPr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8A314396-DC54-54C9-F8B8-AF95849A1C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873"/>
          <a:stretch/>
        </p:blipFill>
        <p:spPr>
          <a:xfrm>
            <a:off x="699364" y="2316458"/>
            <a:ext cx="486097" cy="621372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7058CD17-641F-106E-B55A-6A1356C54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188" y="3419122"/>
            <a:ext cx="399273" cy="6037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6169</TotalTime>
  <Words>1053</Words>
  <Application>Microsoft Office PowerPoint</Application>
  <PresentationFormat>Affichage à l'écran (16:9)</PresentationFormat>
  <Paragraphs>136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NABILA KSOURI</dc:creator>
  <cp:keywords/>
  <dc:description>generated using python-pptx</dc:description>
  <cp:lastModifiedBy>NABILA KSOURI</cp:lastModifiedBy>
  <cp:revision>7</cp:revision>
  <dcterms:created xsi:type="dcterms:W3CDTF">2013-01-27T09:14:16Z</dcterms:created>
  <dcterms:modified xsi:type="dcterms:W3CDTF">2026-10-19T07:07:27Z</dcterms:modified>
  <cp:category/>
</cp:coreProperties>
</file>